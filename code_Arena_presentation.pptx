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0" r:id="rId11"/>
    <p:sldId id="26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6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AEDCD-AE40-DA4F-8B03-EEA299B23F4A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B896E-B29A-4847-8D9B-B67271DF33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6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ARENA</a:t>
            </a:r>
            <a:endParaRPr lang="en-US" sz="6200" dirty="0"/>
          </a:p>
        </p:txBody>
      </p:sp>
      <p:sp>
        <p:nvSpPr>
          <p:cNvPr id="3" name="Text 1"/>
          <p:cNvSpPr/>
          <p:nvPr/>
        </p:nvSpPr>
        <p:spPr>
          <a:xfrm>
            <a:off x="868680" y="23957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Lab-Test Evaluation Platform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68680" y="28529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2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manual bias from computer-based examinations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10515600" cy="2331720"/>
          </a:xfrm>
          <a:prstGeom prst="roundRect">
            <a:avLst>
              <a:gd name="adj" fmla="val 3137"/>
            </a:avLst>
          </a:prstGeom>
          <a:solidFill>
            <a:srgbClr val="FFFFFF">
              <a:alpha val="92000"/>
            </a:srgbClr>
          </a:solidFill>
          <a:ln/>
          <a:effectLst>
            <a:outerShdw blurRad="152400" dist="508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8872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4251960"/>
            <a:ext cx="384048" cy="38404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41879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Tejveer Singh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44622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24BCA10210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4251960"/>
            <a:ext cx="384048" cy="38404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418795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Akashdeep Singh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44622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24BCA10222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88720" y="5074920"/>
            <a:ext cx="384048" cy="38404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501091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Rangta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52852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24BCA10158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5074920"/>
            <a:ext cx="384048" cy="384048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501091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Gupta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52852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24BCA10138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F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 |  </a:t>
            </a:r>
            <a:r>
              <a:rPr lang="en-GB" sz="1200">
                <a:solidFill>
                  <a:srgbClr val="EF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</a:t>
            </a:r>
            <a:r>
              <a:rPr lang="en-US" sz="1200">
                <a:solidFill>
                  <a:srgbClr val="EF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EF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Arvinder Singh  |  Chandigarh University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3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</a:t>
            </a: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Checking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computer-based lab tests, a teacher walks around and manually inspects each student's screen under severe time pressure. This process directly shapes learning outcomes: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12064" cy="512064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5" name="Image 0" descr="/home/claude/codearena/assets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2677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21214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3957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examiner cannot thoroughly test every student's code within a short lab period.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447288"/>
            <a:ext cx="512064" cy="512064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9" name="Image 1" descr="/home/claude/codearena/assets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5661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41985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 &amp; Bias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36941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visual checks miss working logic, leading to inconsistent, subjective grading.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745736"/>
            <a:ext cx="512064" cy="512064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3" name="Image 2" descr="/home/claude/codearena/assets/icons/b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8646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71830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499262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a mark with no test-case breakdown or way to verify how it was decided.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955280" y="1188720"/>
            <a:ext cx="3611880" cy="5074920"/>
          </a:xfrm>
          <a:prstGeom prst="roundRect">
            <a:avLst>
              <a:gd name="adj" fmla="val 2278"/>
            </a:avLst>
          </a:prstGeom>
          <a:solidFill>
            <a:srgbClr val="C00000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275320" y="1554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29600" y="187452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6200" dirty="0"/>
          </a:p>
        </p:txBody>
      </p:sp>
      <p:sp>
        <p:nvSpPr>
          <p:cNvPr id="19" name="Text 14"/>
          <p:cNvSpPr/>
          <p:nvPr/>
        </p:nvSpPr>
        <p:spPr>
          <a:xfrm>
            <a:off x="8321040" y="30632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— even when the task was completed correctly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503920" y="4069080"/>
            <a:ext cx="251460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321040" y="42976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FB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discourages honest effort and erodes trust in the evaluation process.</a:t>
            </a:r>
            <a:endParaRPr lang="en-US" sz="1200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3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</a:t>
            </a: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Lab-Test Scenario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began with a second-semester lab test experienced firsthand by our team — a clear example of how manual checking breaks down under real classroom conditions.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EEF4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404872"/>
            <a:ext cx="457200" cy="457200"/>
          </a:xfrm>
          <a:prstGeom prst="ellipse">
            <a:avLst/>
          </a:prstGeom>
          <a:solidFill>
            <a:srgbClr val="113F67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38658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Begins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990088"/>
            <a:ext cx="4837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start coding tasks on individual systems during a fixed, limited lab period.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EEF4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2404872"/>
            <a:ext cx="457200" cy="457200"/>
          </a:xfrm>
          <a:prstGeom prst="ellipse">
            <a:avLst/>
          </a:prstGeom>
          <a:solidFill>
            <a:srgbClr val="113F67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38658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Rush to Check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9672" y="2990088"/>
            <a:ext cx="4837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teacher and many systems, each submission gets only a few seconds of attention.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E7EEF4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4416552"/>
            <a:ext cx="457200" cy="457200"/>
          </a:xfrm>
          <a:prstGeom prst="ellipse">
            <a:avLst/>
          </a:prstGeom>
          <a:solidFill>
            <a:srgbClr val="113F67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3982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Work Overlooked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6112" y="5001768"/>
            <a:ext cx="4837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programs are glanced over quickly; subtle correct logic is missed in the rush.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BE9E9"/>
          </a:solidFill>
          <a:ln/>
        </p:spPr>
      </p:sp>
      <p:sp>
        <p:nvSpPr>
          <p:cNvPr id="20" name="Shape 18"/>
          <p:cNvSpPr/>
          <p:nvPr/>
        </p:nvSpPr>
        <p:spPr>
          <a:xfrm>
            <a:off x="6519672" y="4416552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39826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Zero Marks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5001768"/>
            <a:ext cx="4837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completing the task, several students — </a:t>
            </a:r>
            <a:r>
              <a:rPr lang="en-GB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me</a:t>
            </a:r>
            <a:r>
              <a:rPr lang="en-US" sz="12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zero.</a:t>
            </a:r>
            <a:endParaRPr lang="en-US" sz="1200" dirty="0"/>
          </a:p>
        </p:txBody>
      </p:sp>
    </p:spTree>
  </p:cSld>
  <p:clrMapOvr>
    <a:masterClrMapping/>
  </p:clrMapOvr>
  <p:transition spd="slow"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3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</a:t>
            </a: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Arena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50" dirty="0"/>
              <a:t>A secure web platform for running the exam — students code in a monitored editor, and every submission is ready for the teacher to review.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E7EE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6" name="Image 0" descr="/home/claude/codearena/assets/icons/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TEACHERS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3063240"/>
            <a:ext cx="402336" cy="402336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9" name="Image 1" descr="/home/claude/codearena/assets/icons/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15468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0358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GB" sz="1200" dirty="0"/>
              <a:t>Create and validate a secure exam room with a custom time limit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960120" y="3904488"/>
            <a:ext cx="402336" cy="402336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2" name="Image 2" descr="/home/claude/codearena/assets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99592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877056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GB" sz="1200" dirty="0"/>
              <a:t>Monitor tab-switches and copy-paste attempts in real time during the exam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960120" y="4745736"/>
            <a:ext cx="402336" cy="402336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5" name="Image 3" descr="/home/claude/codearena/assets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83717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71830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GB" sz="1200" dirty="0"/>
              <a:t>Add or paste questions into the room, visible instantly to students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960120" y="5586984"/>
            <a:ext cx="402336" cy="402336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8" name="Image 4" descr="/home/claude/codearena/assets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5678424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555955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GB" sz="1200" dirty="0"/>
              <a:t>Review, grade, and download every student’s file — individually or as one zip — whenever you want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217920" y="1874520"/>
            <a:ext cx="5257800" cy="4617720"/>
          </a:xfrm>
          <a:prstGeom prst="roundRect">
            <a:avLst>
              <a:gd name="adj" fmla="val 1782"/>
            </a:avLst>
          </a:prstGeom>
          <a:solidFill>
            <a:srgbClr val="FBE9E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4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22" name="Image 5" descr="/home/claude/codearena/assets/icons/stud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69480" y="23042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6558956" y="3148542"/>
            <a:ext cx="402336" cy="40233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6" name="Text 17"/>
          <p:cNvSpPr/>
          <p:nvPr/>
        </p:nvSpPr>
        <p:spPr>
          <a:xfrm>
            <a:off x="7086600" y="30358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GB" sz="1200" dirty="0"/>
              <a:t>Enter a 6-digit code to join the exact room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6558956" y="3944068"/>
            <a:ext cx="402336" cy="402336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25" name="Image 6" descr="/home/claude/codearena/assets/icons/lapt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0396" y="4035508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086600" y="3877056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GB" sz="1200" dirty="0"/>
              <a:t>Write and run code in a live editor for the actual test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6537960" y="4745736"/>
            <a:ext cx="402336" cy="402336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28" name="Image 7" descr="/home/claude/codearena/assets/icons/bo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1610" y="4828392"/>
            <a:ext cx="219456" cy="219456"/>
          </a:xfrm>
          <a:prstGeom prst="rect">
            <a:avLst/>
          </a:prstGeom>
        </p:spPr>
      </p:pic>
      <p:pic>
        <p:nvPicPr>
          <p:cNvPr id="31" name="Image 8" descr="/home/claude/codearena/assets/icons/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0396" y="3246120"/>
            <a:ext cx="219456" cy="2194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86600" y="4718304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GB" sz="1200" dirty="0"/>
              <a:t>Instant compile-and-run feedback while solving each problem</a:t>
            </a:r>
            <a:endParaRPr lang="en-US" sz="1200" dirty="0"/>
          </a:p>
        </p:txBody>
      </p:sp>
      <p:sp>
        <p:nvSpPr>
          <p:cNvPr id="33" name="Shape 22"/>
          <p:cNvSpPr/>
          <p:nvPr/>
        </p:nvSpPr>
        <p:spPr>
          <a:xfrm>
            <a:off x="6537960" y="5586984"/>
            <a:ext cx="402336" cy="402336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34" name="Image 9" descr="/home/claude/codearena/assets/icons/troph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8357" y="5678424"/>
            <a:ext cx="219456" cy="21945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086600" y="5559552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GB" sz="1200" dirty="0"/>
              <a:t>No stress about grading logic — just write real, working code</a:t>
            </a:r>
            <a:endParaRPr lang="en-US" sz="1200" dirty="0"/>
          </a:p>
        </p:txBody>
      </p:sp>
    </p:spTree>
  </p:cSld>
  <p:clrMapOvr>
    <a:masterClrMapping/>
  </p:clrMapOvr>
  <p:transition spd="slow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100"/>
          <p:cNvSpPr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101" name="Text 101"/>
          <p:cNvSpPr/>
          <p:nvPr/>
        </p:nvSpPr>
        <p:spPr>
          <a:xfrm>
            <a:off x="804672" y="2971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Code Arena Works</a:t>
            </a:r>
            <a:endParaRPr lang="en-US" sz="4400" dirty="0"/>
          </a:p>
        </p:txBody>
      </p:sp>
      <p:sp>
        <p:nvSpPr>
          <p:cNvPr id="102" name="Text 102"/>
          <p:cNvSpPr/>
          <p:nvPr/>
        </p:nvSpPr>
        <p:spPr>
          <a:xfrm>
            <a:off x="82296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2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secure room to a graded review — a simple flow for teachers and students alike.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10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3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Basic </a:t>
            </a: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400" dirty="0"/>
          </a:p>
        </p:txBody>
      </p:sp>
      <p:sp>
        <p:nvSpPr>
          <p:cNvPr id="101" name="Text 101"/>
          <p:cNvSpPr/>
          <p:nvPr/>
        </p:nvSpPr>
        <p:spPr>
          <a:xfrm>
            <a:off x="640080" y="11887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room creation to results — a simple four-step flow, shared by every teacher and student session.</a:t>
            </a:r>
            <a:endParaRPr lang="en-US" sz="1350" dirty="0"/>
          </a:p>
        </p:txBody>
      </p:sp>
      <p:sp>
        <p:nvSpPr>
          <p:cNvPr id="102" name="Shape 102"/>
          <p:cNvSpPr/>
          <p:nvPr/>
        </p:nvSpPr>
        <p:spPr>
          <a:xfrm>
            <a:off x="640080" y="2148840"/>
            <a:ext cx="5349240" cy="1783080"/>
          </a:xfrm>
          <a:prstGeom prst="roundRect">
            <a:avLst>
              <a:gd name="adj" fmla="val 1782"/>
            </a:avLst>
          </a:prstGeom>
          <a:solidFill>
            <a:srgbClr val="E7EE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3" name="Shape 103"/>
          <p:cNvSpPr/>
          <p:nvPr/>
        </p:nvSpPr>
        <p:spPr>
          <a:xfrm>
            <a:off x="896112" y="2404872"/>
            <a:ext cx="457200" cy="457200"/>
          </a:xfrm>
          <a:prstGeom prst="ellipse">
            <a:avLst/>
          </a:prstGeom>
          <a:solidFill>
            <a:srgbClr val="113F67"/>
          </a:solidFill>
          <a:ln/>
        </p:spPr>
      </p:sp>
      <p:sp>
        <p:nvSpPr>
          <p:cNvPr id="104" name="Text 104"/>
          <p:cNvSpPr/>
          <p:nvPr/>
        </p:nvSpPr>
        <p:spPr>
          <a:xfrm>
            <a:off x="89611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  <a:endParaRPr lang="en-US" sz="1800" dirty="0"/>
          </a:p>
        </p:txBody>
      </p:sp>
      <p:sp>
        <p:nvSpPr>
          <p:cNvPr id="105" name="Text 105"/>
          <p:cNvSpPr/>
          <p:nvPr/>
        </p:nvSpPr>
        <p:spPr>
          <a:xfrm>
            <a:off x="1508760" y="23865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Created &amp; Secured</a:t>
            </a:r>
            <a:endParaRPr lang="en-US" sz="1600" dirty="0"/>
          </a:p>
        </p:txBody>
      </p:sp>
      <p:sp>
        <p:nvSpPr>
          <p:cNvPr id="106" name="Text 106"/>
          <p:cNvSpPr/>
          <p:nvPr/>
        </p:nvSpPr>
        <p:spPr>
          <a:xfrm>
            <a:off x="896112" y="3246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sets up a secure exam room with a custom time limit and adds the questions.</a:t>
            </a:r>
            <a:endParaRPr lang="en-US" sz="1200" dirty="0"/>
          </a:p>
        </p:txBody>
      </p:sp>
      <p:sp>
        <p:nvSpPr>
          <p:cNvPr id="107" name="Shape 107"/>
          <p:cNvSpPr/>
          <p:nvPr/>
        </p:nvSpPr>
        <p:spPr>
          <a:xfrm>
            <a:off x="6263640" y="2148840"/>
            <a:ext cx="5349240" cy="1783080"/>
          </a:xfrm>
          <a:prstGeom prst="roundRect">
            <a:avLst>
              <a:gd name="adj" fmla="val 1782"/>
            </a:avLst>
          </a:prstGeom>
          <a:solidFill>
            <a:srgbClr val="E7EE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8" name="Shape 108"/>
          <p:cNvSpPr/>
          <p:nvPr/>
        </p:nvSpPr>
        <p:spPr>
          <a:xfrm>
            <a:off x="6519672" y="2404872"/>
            <a:ext cx="457200" cy="457200"/>
          </a:xfrm>
          <a:prstGeom prst="ellipse">
            <a:avLst/>
          </a:prstGeom>
          <a:solidFill>
            <a:srgbClr val="113F67"/>
          </a:solidFill>
          <a:ln/>
        </p:spPr>
      </p:sp>
      <p:sp>
        <p:nvSpPr>
          <p:cNvPr id="109" name="Text 109"/>
          <p:cNvSpPr/>
          <p:nvPr/>
        </p:nvSpPr>
        <p:spPr>
          <a:xfrm>
            <a:off x="6519672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  <a:endParaRPr lang="en-US" sz="1800" dirty="0"/>
          </a:p>
        </p:txBody>
      </p:sp>
      <p:sp>
        <p:nvSpPr>
          <p:cNvPr id="110" name="Text 110"/>
          <p:cNvSpPr/>
          <p:nvPr/>
        </p:nvSpPr>
        <p:spPr>
          <a:xfrm>
            <a:off x="7132320" y="23865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Joins Securely</a:t>
            </a:r>
            <a:endParaRPr lang="en-US" sz="1600" dirty="0"/>
          </a:p>
        </p:txBody>
      </p:sp>
      <p:sp>
        <p:nvSpPr>
          <p:cNvPr id="111" name="Text 111"/>
          <p:cNvSpPr/>
          <p:nvPr/>
        </p:nvSpPr>
        <p:spPr>
          <a:xfrm>
            <a:off x="6519672" y="3246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enters the 6-digit code to access the exact room and its editor.</a:t>
            </a:r>
            <a:endParaRPr lang="en-US" sz="1200" dirty="0"/>
          </a:p>
        </p:txBody>
      </p:sp>
      <p:sp>
        <p:nvSpPr>
          <p:cNvPr id="112" name="Shape 112"/>
          <p:cNvSpPr/>
          <p:nvPr/>
        </p:nvSpPr>
        <p:spPr>
          <a:xfrm>
            <a:off x="640080" y="4160520"/>
            <a:ext cx="5349240" cy="1783080"/>
          </a:xfrm>
          <a:prstGeom prst="roundRect">
            <a:avLst>
              <a:gd name="adj" fmla="val 1782"/>
            </a:avLst>
          </a:prstGeom>
          <a:solidFill>
            <a:srgbClr val="E7EE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3" name="Shape 113"/>
          <p:cNvSpPr/>
          <p:nvPr/>
        </p:nvSpPr>
        <p:spPr>
          <a:xfrm>
            <a:off x="896112" y="4416552"/>
            <a:ext cx="457200" cy="457200"/>
          </a:xfrm>
          <a:prstGeom prst="ellipse">
            <a:avLst/>
          </a:prstGeom>
          <a:solidFill>
            <a:srgbClr val="113F67"/>
          </a:solidFill>
          <a:ln/>
        </p:spPr>
      </p:sp>
      <p:sp>
        <p:nvSpPr>
          <p:cNvPr id="114" name="Text 114"/>
          <p:cNvSpPr/>
          <p:nvPr/>
        </p:nvSpPr>
        <p:spPr>
          <a:xfrm>
            <a:off x="89611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  <a:endParaRPr lang="en-US" sz="1800" dirty="0"/>
          </a:p>
        </p:txBody>
      </p:sp>
      <p:sp>
        <p:nvSpPr>
          <p:cNvPr id="115" name="Text 115"/>
          <p:cNvSpPr/>
          <p:nvPr/>
        </p:nvSpPr>
        <p:spPr>
          <a:xfrm>
            <a:off x="1508760" y="43982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Coding, Monitored</a:t>
            </a:r>
            <a:endParaRPr lang="en-US" sz="1600" dirty="0"/>
          </a:p>
        </p:txBody>
      </p:sp>
      <p:sp>
        <p:nvSpPr>
          <p:cNvPr id="116" name="Text 116"/>
          <p:cNvSpPr/>
          <p:nvPr/>
        </p:nvSpPr>
        <p:spPr>
          <a:xfrm>
            <a:off x="896112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writes and runs code on one page; tab-switches and copy-paste attempts are logged in real time.</a:t>
            </a:r>
            <a:endParaRPr lang="en-US" sz="1200" dirty="0"/>
          </a:p>
        </p:txBody>
      </p:sp>
      <p:sp>
        <p:nvSpPr>
          <p:cNvPr id="117" name="Shape 117"/>
          <p:cNvSpPr/>
          <p:nvPr/>
        </p:nvSpPr>
        <p:spPr>
          <a:xfrm>
            <a:off x="6263640" y="4160520"/>
            <a:ext cx="5349240" cy="1783080"/>
          </a:xfrm>
          <a:prstGeom prst="roundRect">
            <a:avLst>
              <a:gd name="adj" fmla="val 1782"/>
            </a:avLst>
          </a:prstGeom>
          <a:solidFill>
            <a:srgbClr val="E7EE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8" name="Shape 118"/>
          <p:cNvSpPr/>
          <p:nvPr/>
        </p:nvSpPr>
        <p:spPr>
          <a:xfrm>
            <a:off x="6519672" y="4416552"/>
            <a:ext cx="457200" cy="457200"/>
          </a:xfrm>
          <a:prstGeom prst="ellipse">
            <a:avLst/>
          </a:prstGeom>
          <a:solidFill>
            <a:srgbClr val="113F67"/>
          </a:solidFill>
          <a:ln/>
        </p:spPr>
      </p:sp>
      <p:sp>
        <p:nvSpPr>
          <p:cNvPr id="119" name="Text 119"/>
          <p:cNvSpPr/>
          <p:nvPr/>
        </p:nvSpPr>
        <p:spPr>
          <a:xfrm>
            <a:off x="6519672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  <a:endParaRPr lang="en-US" sz="1800" dirty="0"/>
          </a:p>
        </p:txBody>
      </p:sp>
      <p:sp>
        <p:nvSpPr>
          <p:cNvPr id="120" name="Text 120"/>
          <p:cNvSpPr/>
          <p:nvPr/>
        </p:nvSpPr>
        <p:spPr>
          <a:xfrm>
            <a:off x="7132320" y="43982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Auto-Submit &amp; Handover</a:t>
            </a:r>
            <a:endParaRPr lang="en-US" sz="1600" dirty="0"/>
          </a:p>
        </p:txBody>
      </p:sp>
      <p:sp>
        <p:nvSpPr>
          <p:cNvPr id="121" name="Text 121"/>
          <p:cNvSpPr/>
          <p:nvPr/>
        </p:nvSpPr>
        <p:spPr>
          <a:xfrm>
            <a:off x="6519672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time is up, work is auto-submitted and every file lands with the teacher, ready to review.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dir="u" isInverted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10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3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Workflow</a:t>
            </a:r>
            <a:endParaRPr lang="en-US" sz="3400" dirty="0"/>
          </a:p>
        </p:txBody>
      </p:sp>
      <p:sp>
        <p:nvSpPr>
          <p:cNvPr id="101" name="Text 10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Examiner Portal — from room setup to reviewing every submission.</a:t>
            </a:r>
            <a:endParaRPr lang="en-US" sz="1350" dirty="0"/>
          </a:p>
        </p:txBody>
      </p:sp>
      <p:sp>
        <p:nvSpPr>
          <p:cNvPr id="102" name="Shape 102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782"/>
            </a:avLst>
          </a:prstGeom>
          <a:solidFill>
            <a:srgbClr val="E7EEF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3" name="Shape 103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04" name="Image 104" descr="tea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21" y="2341961"/>
            <a:ext cx="272126" cy="27212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5" name="Text 105"/>
          <p:cNvSpPr/>
          <p:nvPr/>
        </p:nvSpPr>
        <p:spPr>
          <a:xfrm>
            <a:off x="1691640" y="2258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WORKFLOW</a:t>
            </a:r>
            <a:endParaRPr lang="en-US" sz="1600" dirty="0"/>
          </a:p>
        </p:txBody>
      </p:sp>
      <p:sp>
        <p:nvSpPr>
          <p:cNvPr id="106" name="Shape 106"/>
          <p:cNvSpPr/>
          <p:nvPr/>
        </p:nvSpPr>
        <p:spPr>
          <a:xfrm>
            <a:off x="960120" y="3063240"/>
            <a:ext cx="402336" cy="402336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07" name="Image 107" descr="plus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27" y="3167847"/>
            <a:ext cx="193122" cy="193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8" name="Text 108"/>
          <p:cNvSpPr/>
          <p:nvPr/>
        </p:nvSpPr>
        <p:spPr>
          <a:xfrm>
            <a:off x="1527048" y="30358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Validate Rooms</a:t>
            </a:r>
            <a:endParaRPr lang="en-US" sz="1400" dirty="0"/>
          </a:p>
        </p:txBody>
      </p:sp>
      <p:sp>
        <p:nvSpPr>
          <p:cNvPr id="109" name="Text 109"/>
          <p:cNvSpPr/>
          <p:nvPr/>
        </p:nvSpPr>
        <p:spPr>
          <a:xfrm>
            <a:off x="1527048" y="34107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secure exam room with a custom time limit in a few clicks.</a:t>
            </a:r>
            <a:endParaRPr lang="en-US" sz="1150" dirty="0"/>
          </a:p>
        </p:txBody>
      </p:sp>
      <p:sp>
        <p:nvSpPr>
          <p:cNvPr id="110" name="Shape 110"/>
          <p:cNvSpPr/>
          <p:nvPr/>
        </p:nvSpPr>
        <p:spPr>
          <a:xfrm>
            <a:off x="960120" y="3904488"/>
            <a:ext cx="402336" cy="402336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11" name="Image 111" descr="file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727" y="4009095"/>
            <a:ext cx="193122" cy="193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2" name="Text 112"/>
          <p:cNvSpPr/>
          <p:nvPr/>
        </p:nvSpPr>
        <p:spPr>
          <a:xfrm>
            <a:off x="1527048" y="387705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Questions</a:t>
            </a:r>
            <a:endParaRPr lang="en-US" sz="1400" dirty="0"/>
          </a:p>
        </p:txBody>
      </p:sp>
      <p:sp>
        <p:nvSpPr>
          <p:cNvPr id="113" name="Text 113"/>
          <p:cNvSpPr/>
          <p:nvPr/>
        </p:nvSpPr>
        <p:spPr>
          <a:xfrm>
            <a:off x="1527048" y="42519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write problems into the room, visible instantly to students.</a:t>
            </a:r>
            <a:endParaRPr lang="en-US" sz="1150" dirty="0"/>
          </a:p>
        </p:txBody>
      </p:sp>
      <p:sp>
        <p:nvSpPr>
          <p:cNvPr id="114" name="Shape 114"/>
          <p:cNvSpPr/>
          <p:nvPr/>
        </p:nvSpPr>
        <p:spPr>
          <a:xfrm>
            <a:off x="960120" y="4745736"/>
            <a:ext cx="402336" cy="402336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15" name="Image 115" descr="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727" y="4850343"/>
            <a:ext cx="193122" cy="193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6" name="Text 116"/>
          <p:cNvSpPr/>
          <p:nvPr/>
        </p:nvSpPr>
        <p:spPr>
          <a:xfrm>
            <a:off x="1527048" y="471830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Integrity</a:t>
            </a:r>
            <a:endParaRPr lang="en-US" sz="1400" dirty="0"/>
          </a:p>
        </p:txBody>
      </p:sp>
      <p:sp>
        <p:nvSpPr>
          <p:cNvPr id="117" name="Text 117"/>
          <p:cNvSpPr/>
          <p:nvPr/>
        </p:nvSpPr>
        <p:spPr>
          <a:xfrm>
            <a:off x="1527048" y="50932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Tab-switches and copy-paste attempts during the exam are logged and visible in real time.</a:t>
            </a:r>
            <a:endParaRPr lang="en-US" sz="1150" dirty="0"/>
          </a:p>
        </p:txBody>
      </p:sp>
      <p:sp>
        <p:nvSpPr>
          <p:cNvPr id="118" name="Shape 118"/>
          <p:cNvSpPr/>
          <p:nvPr/>
        </p:nvSpPr>
        <p:spPr>
          <a:xfrm>
            <a:off x="960120" y="5586984"/>
            <a:ext cx="402336" cy="402336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19" name="Image 119" descr="downlo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727" y="5691591"/>
            <a:ext cx="193122" cy="193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0" name="Text 120"/>
          <p:cNvSpPr/>
          <p:nvPr/>
        </p:nvSpPr>
        <p:spPr>
          <a:xfrm>
            <a:off x="1527048" y="55595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Download</a:t>
            </a:r>
            <a:endParaRPr lang="en-US" sz="1400" dirty="0"/>
          </a:p>
        </p:txBody>
      </p:sp>
      <p:sp>
        <p:nvSpPr>
          <p:cNvPr id="121" name="Text 121"/>
          <p:cNvSpPr/>
          <p:nvPr/>
        </p:nvSpPr>
        <p:spPr>
          <a:xfrm>
            <a:off x="1527048" y="59344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auto-submission, preview any student's file, or download all files for a room in one zip.</a:t>
            </a:r>
            <a:endParaRPr lang="en-US" sz="1150" dirty="0"/>
          </a:p>
        </p:txBody>
      </p:sp>
    </p:spTree>
  </p:cSld>
  <p:clrMapOvr>
    <a:masterClrMapping/>
  </p:clrMapOvr>
  <p:transition spd="slow">
    <p:cover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10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Workflow</a:t>
            </a:r>
            <a:endParaRPr lang="en-US" sz="3400" dirty="0"/>
          </a:p>
        </p:txBody>
      </p:sp>
      <p:sp>
        <p:nvSpPr>
          <p:cNvPr id="101" name="Text 10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Focused Page — everything a student needs, from code to submission.</a:t>
            </a:r>
            <a:endParaRPr lang="en-US" sz="1350" dirty="0"/>
          </a:p>
        </p:txBody>
      </p:sp>
      <p:sp>
        <p:nvSpPr>
          <p:cNvPr id="102" name="Shape 102"/>
          <p:cNvSpPr/>
          <p:nvPr/>
        </p:nvSpPr>
        <p:spPr>
          <a:xfrm>
            <a:off x="640080" y="1874520"/>
            <a:ext cx="10881360" cy="4617720"/>
          </a:xfrm>
          <a:prstGeom prst="roundRect">
            <a:avLst>
              <a:gd name="adj" fmla="val 1782"/>
            </a:avLst>
          </a:prstGeom>
          <a:solidFill>
            <a:srgbClr val="FBE9E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3" name="Shape 103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104" name="Image 104" descr="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21" y="2341961"/>
            <a:ext cx="272126" cy="27212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5" name="Text 105"/>
          <p:cNvSpPr/>
          <p:nvPr/>
        </p:nvSpPr>
        <p:spPr>
          <a:xfrm>
            <a:off x="1691640" y="2258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</a:t>
            </a:r>
            <a:endParaRPr lang="en-US" sz="1600" dirty="0"/>
          </a:p>
        </p:txBody>
      </p:sp>
      <p:sp>
        <p:nvSpPr>
          <p:cNvPr id="106" name="Shape 106"/>
          <p:cNvSpPr/>
          <p:nvPr/>
        </p:nvSpPr>
        <p:spPr>
          <a:xfrm>
            <a:off x="960120" y="3063240"/>
            <a:ext cx="402336" cy="402336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107" name="Image 107" descr="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27" y="3167847"/>
            <a:ext cx="193122" cy="193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8" name="Text 108"/>
          <p:cNvSpPr/>
          <p:nvPr/>
        </p:nvSpPr>
        <p:spPr>
          <a:xfrm>
            <a:off x="1527048" y="303580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Room Code</a:t>
            </a:r>
            <a:endParaRPr lang="en-US" sz="1400" dirty="0"/>
          </a:p>
        </p:txBody>
      </p:sp>
      <p:sp>
        <p:nvSpPr>
          <p:cNvPr id="109" name="Text 109"/>
          <p:cNvSpPr/>
          <p:nvPr/>
        </p:nvSpPr>
        <p:spPr>
          <a:xfrm>
            <a:off x="1527048" y="341071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6-digit code shared by the teacher to join instantly.</a:t>
            </a:r>
            <a:endParaRPr lang="en-US" sz="1150" dirty="0"/>
          </a:p>
        </p:txBody>
      </p:sp>
      <p:sp>
        <p:nvSpPr>
          <p:cNvPr id="110" name="Shape 110"/>
          <p:cNvSpPr/>
          <p:nvPr/>
        </p:nvSpPr>
        <p:spPr>
          <a:xfrm>
            <a:off x="960120" y="3904488"/>
            <a:ext cx="402336" cy="402336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111" name="Image 111" descr="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727" y="4009095"/>
            <a:ext cx="193122" cy="193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2" name="Text 112"/>
          <p:cNvSpPr/>
          <p:nvPr/>
        </p:nvSpPr>
        <p:spPr>
          <a:xfrm>
            <a:off x="1527048" y="387705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Question &amp; Editor Together</a:t>
            </a:r>
            <a:endParaRPr lang="en-US" sz="1400" dirty="0"/>
          </a:p>
        </p:txBody>
      </p:sp>
      <p:sp>
        <p:nvSpPr>
          <p:cNvPr id="113" name="Text 113"/>
          <p:cNvSpPr/>
          <p:nvPr/>
        </p:nvSpPr>
        <p:spPr>
          <a:xfrm>
            <a:off x="1527048" y="42519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 and code editor sit on one page — no tab-switching needed.</a:t>
            </a:r>
            <a:endParaRPr lang="en-US" sz="1150" dirty="0"/>
          </a:p>
        </p:txBody>
      </p:sp>
      <p:sp>
        <p:nvSpPr>
          <p:cNvPr id="114" name="Shape 114"/>
          <p:cNvSpPr/>
          <p:nvPr/>
        </p:nvSpPr>
        <p:spPr>
          <a:xfrm>
            <a:off x="960120" y="4745736"/>
            <a:ext cx="402336" cy="402336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115" name="Image 115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727" y="4850343"/>
            <a:ext cx="193122" cy="193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6" name="Text 116"/>
          <p:cNvSpPr/>
          <p:nvPr/>
        </p:nvSpPr>
        <p:spPr>
          <a:xfrm>
            <a:off x="1527048" y="471830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Run &amp; Test</a:t>
            </a:r>
            <a:endParaRPr lang="en-US" sz="1400" dirty="0"/>
          </a:p>
        </p:txBody>
      </p:sp>
      <p:sp>
        <p:nvSpPr>
          <p:cNvPr id="117" name="Text 117"/>
          <p:cNvSpPr/>
          <p:nvPr/>
        </p:nvSpPr>
        <p:spPr>
          <a:xfrm>
            <a:off x="1527048" y="509320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code with immediate feedback as you work.</a:t>
            </a:r>
            <a:endParaRPr lang="en-US" sz="1150" dirty="0"/>
          </a:p>
        </p:txBody>
      </p:sp>
      <p:sp>
        <p:nvSpPr>
          <p:cNvPr id="118" name="Shape 118"/>
          <p:cNvSpPr/>
          <p:nvPr/>
        </p:nvSpPr>
        <p:spPr>
          <a:xfrm>
            <a:off x="960120" y="5586984"/>
            <a:ext cx="402336" cy="402336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119" name="Image 119" descr="s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727" y="5691591"/>
            <a:ext cx="193122" cy="19312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20" name="Text 120"/>
          <p:cNvSpPr/>
          <p:nvPr/>
        </p:nvSpPr>
        <p:spPr>
          <a:xfrm>
            <a:off x="1527048" y="55595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Auto-Submit at Time-Up</a:t>
            </a:r>
            <a:endParaRPr lang="en-US" sz="1400" dirty="0"/>
          </a:p>
        </p:txBody>
      </p:sp>
      <p:sp>
        <p:nvSpPr>
          <p:cNvPr id="121" name="Text 121"/>
          <p:cNvSpPr/>
          <p:nvPr/>
        </p:nvSpPr>
        <p:spPr>
          <a:xfrm>
            <a:off x="1527048" y="59344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teacher's timer ends, your latest code is submitted automatically — no manual step needed.</a:t>
            </a:r>
            <a:endParaRPr lang="en-US" sz="1150" dirty="0"/>
          </a:p>
        </p:txBody>
      </p:sp>
    </p:spTree>
  </p:cSld>
  <p:clrMapOvr>
    <a:masterClrMapping/>
  </p:clrMapOvr>
  <p:transition spd="slow">
    <p:cover dir="l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10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3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Live: </a:t>
            </a: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3400" dirty="0"/>
          </a:p>
        </p:txBody>
      </p:sp>
      <p:sp>
        <p:nvSpPr>
          <p:cNvPr id="101" name="Text 101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look at the Code Arena landing page.</a:t>
            </a:r>
            <a:endParaRPr lang="en-US" sz="1350" dirty="0"/>
          </a:p>
        </p:txBody>
      </p:sp>
      <p:sp>
        <p:nvSpPr>
          <p:cNvPr id="102" name="Shape 102"/>
          <p:cNvSpPr/>
          <p:nvPr/>
        </p:nvSpPr>
        <p:spPr>
          <a:xfrm>
            <a:off x="640080" y="1874520"/>
            <a:ext cx="10881360" cy="4480560"/>
          </a:xfrm>
          <a:prstGeom prst="roundRect">
            <a:avLst>
              <a:gd name="adj" fmla="val 1782"/>
            </a:avLst>
          </a:prstGeom>
          <a:solidFill>
            <a:srgbClr val="E7EEF4"/>
          </a:solidFill>
          <a:ln w="25400">
            <a:solidFill>
              <a:srgbClr val="113F67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3" name="Shape 103"/>
          <p:cNvSpPr/>
          <p:nvPr/>
        </p:nvSpPr>
        <p:spPr>
          <a:xfrm>
            <a:off x="5646420" y="3291840"/>
            <a:ext cx="868680" cy="868680"/>
          </a:xfrm>
          <a:prstGeom prst="ellipse">
            <a:avLst/>
          </a:prstGeom>
          <a:solidFill>
            <a:srgbClr val="113F67"/>
          </a:solidFill>
          <a:ln/>
        </p:spPr>
      </p:sp>
      <p:pic>
        <p:nvPicPr>
          <p:cNvPr id="104" name="Image 10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276" y="3517696"/>
            <a:ext cx="416968" cy="416968"/>
          </a:xfrm>
          <a:prstGeom prst="rect">
            <a:avLst/>
          </a:prstGeom>
        </p:spPr>
      </p:pic>
      <p:sp>
        <p:nvSpPr>
          <p:cNvPr id="105" name="Text 105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Landing Page Screenshot Here</a:t>
            </a:r>
            <a:endParaRPr lang="en-US" sz="1800" dirty="0"/>
          </a:p>
        </p:txBody>
      </p:sp>
      <p:sp>
        <p:nvSpPr>
          <p:cNvPr id="106" name="Text 106"/>
          <p:cNvSpPr/>
          <p:nvPr/>
        </p:nvSpPr>
        <p:spPr>
          <a:xfrm>
            <a:off x="2011680" y="49834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placeholder with Insert → Picture, then delete this note.</a:t>
            </a:r>
            <a:endParaRPr lang="en-US" sz="11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600CF-801B-23E2-AA01-1356C0AA3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11" y="1645920"/>
            <a:ext cx="11227444" cy="49355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3F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</a:t>
            </a:r>
            <a:r>
              <a:rPr lang="en-US" sz="3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GB" sz="1350" dirty="0"/>
              <a:t>Code Arena is a web-based platform built for academic lab tests. It replaces the rushed, walk-around checking of a live exam with a secure digital room — recording every submission and every integrity flag so the teacher can review and grade properly, without the time pressure.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13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6" name="Image 0" descr="/home/claude/codearena/assets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6609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5786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manual bias from lab-test evaluation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18688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9" name="Image 1" descr="/home/claude/codearena/assets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3192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23697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300" dirty="0"/>
              <a:t>Give every student a secure, distraction-free coding environment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12" name="Image 2" descr="/home/claude/codearena/assets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97764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89534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instant, actionable feedback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40080" y="4535424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pic>
        <p:nvPicPr>
          <p:cNvPr id="15" name="Image 3" descr="/home/claude/codearena/assets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636008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455371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smoothly to large classrooms and batches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315200" y="2148840"/>
            <a:ext cx="4251960" cy="3977640"/>
          </a:xfrm>
          <a:prstGeom prst="roundRect">
            <a:avLst>
              <a:gd name="adj" fmla="val 2069"/>
            </a:avLst>
          </a:prstGeom>
          <a:solidFill>
            <a:srgbClr val="113F67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7635240" y="24231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680960" y="3008376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0" name="Text 14"/>
          <p:cNvSpPr/>
          <p:nvPr/>
        </p:nvSpPr>
        <p:spPr>
          <a:xfrm>
            <a:off x="7909560" y="29260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— Frontend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7680960" y="3493008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2" name="Text 16"/>
          <p:cNvSpPr/>
          <p:nvPr/>
        </p:nvSpPr>
        <p:spPr>
          <a:xfrm>
            <a:off x="7909560" y="3410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Backend API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680960" y="3977640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4" name="Text 18"/>
          <p:cNvSpPr/>
          <p:nvPr/>
        </p:nvSpPr>
        <p:spPr>
          <a:xfrm>
            <a:off x="7909560" y="38953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Database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680960" y="4462272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6" name="Text 20"/>
          <p:cNvSpPr/>
          <p:nvPr/>
        </p:nvSpPr>
        <p:spPr>
          <a:xfrm>
            <a:off x="7909560" y="43799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Caching &amp; Queues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680960" y="4946904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8" name="Text 22"/>
          <p:cNvSpPr/>
          <p:nvPr/>
        </p:nvSpPr>
        <p:spPr>
          <a:xfrm>
            <a:off x="7909560" y="48646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— Live Exam Rooms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680960" y="5431536"/>
            <a:ext cx="82296" cy="8229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0" name="Text 24"/>
          <p:cNvSpPr/>
          <p:nvPr/>
        </p:nvSpPr>
        <p:spPr>
          <a:xfrm>
            <a:off x="7909560" y="53492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Judge0 — Code Execution Engine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and examiner portal already built — backend architecture in active development.</a:t>
            </a:r>
            <a:endParaRPr lang="en-US" sz="1150" dirty="0"/>
          </a:p>
        </p:txBody>
      </p:sp>
    </p:spTree>
  </p:cSld>
  <p:clrMapOvr>
    <a:masterClrMapping/>
  </p:clrMapOvr>
  <p:transition spd="slow">
    <p:cover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868680" y="3337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 — questions &amp; discussion welcome.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Tejveer Singh · Akashdeep Singh · Aditya Rangta · Danish Gupta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 |  </a:t>
            </a:r>
            <a:r>
              <a:rPr lang="en-GB" sz="1200" dirty="0">
                <a:solidFill>
                  <a:srgbClr val="E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</a:t>
            </a:r>
            <a:r>
              <a:rPr lang="en-US" sz="1200" dirty="0">
                <a:solidFill>
                  <a:srgbClr val="E7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Mr. Arvinder Singh  |  Chandigarh University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922</Words>
  <Application>Microsoft Office PowerPoint</Application>
  <PresentationFormat>Widescreen</PresentationFormat>
  <Paragraphs>123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nt fli</cp:lastModifiedBy>
  <cp:revision>5</cp:revision>
  <dcterms:created xsi:type="dcterms:W3CDTF">2026-08-09T18:37:10Z</dcterms:created>
  <dcterms:modified xsi:type="dcterms:W3CDTF">2026-08-12T07:25:28Z</dcterms:modified>
</cp:coreProperties>
</file>